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112772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MO Viewer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>
                <a:solidFill>
                  <a:srgbClr val="FFFFFF"/>
                </a:solidFill>
              </a:defRPr>
            </a:pPr>
            <a:r>
              <a:t>Information Management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3891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Comms-View |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Problem: lots of data, not a lot of ways to quickly access the information it informs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MO-wide: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over 9000 interconnected files stored in Google Drive, acting as a "database"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Jenny, Cherrelle, Slack, emails, Teams, and various meetings acting as database interfaces</a:t>
            </a:r>
          </a:p>
          <a:p>
            <a:pPr>
              <a:spcBef>
                <a:spcPts val="800"/>
              </a:spcBef>
              <a:defRPr sz="2000" b="0">
                <a:solidFill>
                  <a:srgbClr val="000000"/>
                </a:solidFill>
              </a:defRPr>
            </a:pPr>
            <a:r>
              <a:t>multiple copies of various files used to create actionable information conveyed in meetings</a:t>
            </a:r>
          </a:p>
          <a:p>
            <a:pPr>
              <a:spcBef>
                <a:spcPts val="800"/>
              </a:spcBef>
              <a:defRPr sz="2000" b="1">
                <a:solidFill>
                  <a:srgbClr val="000000"/>
                </a:solidFill>
              </a:defRPr>
            </a:pPr>
            <a:r>
              <a:t>Comms-specific: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Stories scattered across meeting notes, emails, and stakeholder updates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No centralized view of "what stories do we have to tell?"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Event and outreach tracking spread across multiple calendars and docs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Highlighter blurbs and talking points recreated for each request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Success metrics require manual compilation from multiple sources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Early Solution attempts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474720" cy="4114800"/>
          </a:xfrm>
          <a:prstGeom prst="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2004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99999"/>
                </a:solidFill>
              </a:defRPr>
            </a:pPr>
            <a:r>
              <a:t>[Screenshot]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35C"/>
                </a:solidFill>
              </a:defRPr>
            </a:pPr>
            <a:r>
              <a:t>2022-2023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1371600"/>
            <a:ext cx="3474720" cy="4114800"/>
          </a:xfrm>
          <a:prstGeom prst="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2004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99999"/>
                </a:solidFill>
              </a:defRPr>
            </a:pPr>
            <a:r>
              <a:t>[Screenshot]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56692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35C"/>
                </a:solidFill>
              </a:defRPr>
            </a:pPr>
            <a:r>
              <a:t>2024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1371600"/>
            <a:ext cx="3474720" cy="4114800"/>
          </a:xfrm>
          <a:prstGeom prst="rect">
            <a:avLst/>
          </a:prstGeom>
          <a:solidFill>
            <a:srgbClr val="EEEEEE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32004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99999"/>
                </a:solidFill>
              </a:defRPr>
            </a:pPr>
            <a:r>
              <a:t>[Screenshot]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5669280"/>
            <a:ext cx="3474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A235C"/>
                </a:solidFill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Early Solution attempts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097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235C"/>
                </a:solidFill>
              </a:defRPr>
            </a:pPr>
            <a:r>
              <a:t>2022-2023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1097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235C"/>
                </a:solidFill>
              </a:defRPr>
            </a:pPr>
            <a:r>
              <a:t>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097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235C"/>
                </a:solidFill>
              </a:defRPr>
            </a:pPr>
            <a:r>
              <a:t>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097280"/>
            <a:ext cx="2834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1A235C"/>
                </a:solidFill>
              </a:defRPr>
            </a:pPr>
            <a:r>
              <a:t>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files stored in GWorkspace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645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files stored in GWorkspace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645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files stored in GWorkspace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164592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/>
            </a:pPr>
            <a:r>
              <a:t>files stored in GWorkspace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4688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stories manually tracked in docs;</a:t>
            </a:r>
            <a:br/>
            <a:r>
              <a:t>blurbs created per request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4688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stories tracked in spreadsheets with ~40 AppsScripts;</a:t>
            </a:r>
            <a:br/>
            <a:r>
              <a:t>still manual compilation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4688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GitHub templates for some content;</a:t>
            </a:r>
            <a:br/>
            <a:r>
              <a:t>heavy maintenance required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0" y="2468880"/>
            <a:ext cx="2834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data pulled from Source of Truth into Databases;</a:t>
            </a:r>
            <a:br/>
            <a:r>
              <a:t>stories linked to solutions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20624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view-only;</a:t>
            </a:r>
            <a:br/>
            <a:r>
              <a:t>no connection to solution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20624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some automation;</a:t>
            </a:r>
            <a:br/>
            <a:r>
              <a:t>still disconnected from milestones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20624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view-only;</a:t>
            </a:r>
            <a:br/>
            <a:r>
              <a:t>heavy maintenance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4206240"/>
            <a:ext cx="2834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t>direct interaction with story database;</a:t>
            </a:r>
            <a:br/>
            <a:r>
              <a:t>linked to Implementation milestones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The Meta-Analysis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2200" b="0">
                <a:solidFill>
                  <a:srgbClr val="000000"/>
                </a:solidFill>
              </a:defRPr>
            </a:pPr>
            <a:r>
              <a:t>Conducted analysis of the Comms workflow as part of the broader MO information system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Evaluated how story content flows from Implementation milestones to outreach materials</a:t>
            </a:r>
          </a:p>
          <a:p>
            <a:pPr>
              <a:spcBef>
                <a:spcPts val="800"/>
              </a:spcBef>
              <a:defRPr sz="2200" b="0">
                <a:solidFill>
                  <a:srgbClr val="000000"/>
                </a:solidFill>
              </a:defRPr>
            </a:pPr>
            <a:r>
              <a:t>Identified design concerns with existing Comms tracking: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Stories created in isolation without connection to solution milestones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Event prep requires manual lookup of attendee information</a:t>
            </a:r>
          </a:p>
          <a:p>
            <a:pPr lvl="1">
              <a:spcBef>
                <a:spcPts val="800"/>
              </a:spcBef>
              <a:defRPr sz="1800" b="0">
                <a:solidFill>
                  <a:srgbClr val="000000"/>
                </a:solidFill>
              </a:defRPr>
            </a:pPr>
            <a:r>
              <a:t>No single view of "what content do we have ready?"</a:t>
            </a:r>
          </a:p>
          <a:p>
            <a:pPr>
              <a:spcBef>
                <a:spcPts val="800"/>
              </a:spcBef>
              <a:defRPr sz="2200" b="0">
                <a:solidFill>
                  <a:srgbClr val="000000"/>
                </a:solidFill>
              </a:defRPr>
            </a:pPr>
            <a:r>
              <a:t>Discovered: ability to connect Comms outputs directly to Implementation data. Stories link to solutions, events link to stakeholders, and blurbs generate from milestone achievements.</a:t>
            </a:r>
          </a:p>
          <a:p>
            <a:pPr>
              <a:spcBef>
                <a:spcPts val="1600"/>
              </a:spcBef>
              <a:defRPr sz="2000" b="1">
                <a:solidFill>
                  <a:srgbClr val="1A235C"/>
                </a:solidFill>
              </a:defRPr>
            </a:pPr>
            <a:r>
              <a:t>Every Implementation milestone is a potential Comms story waiting to be told.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How we work, in terms of an Information Management System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1277295" cy="530352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36576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999999"/>
                </a:solidFill>
              </a:defRPr>
            </a:pPr>
            <a:r>
              <a:t>[Whiteboard Diagram]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Context: Why MO Viewer and not just Comms Tracker?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3749039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Milestones become story opportunities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Solution updates feed talking points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Document completions trigger announcements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188720"/>
            <a:ext cx="3749039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SEP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7373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Stakeholder wins become success stories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Engagement events need prep materials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Agency relationships inform outreach targets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188720"/>
            <a:ext cx="3749039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7C00"/>
                </a:solidFill>
              </a:defRPr>
            </a:pPr>
            <a:r>
              <a:t>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1737360"/>
            <a:ext cx="3383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Meeting notes surface story ideas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Actions track content deadlines</a:t>
            </a:r>
          </a:p>
          <a:p>
            <a:pPr>
              <a:spcBef>
                <a:spcPts val="800"/>
              </a:spcBef>
              <a:defRPr sz="1200" b="0">
                <a:solidFill>
                  <a:srgbClr val="000000"/>
                </a:solidFill>
              </a:defRPr>
            </a:pPr>
            <a:r>
              <a:t>Availability affects event scheduling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5C"/>
                </a:solidFill>
              </a:defRPr>
            </a:pPr>
            <a:r>
              <a:t>Comms amplifies everything: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1148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400"/>
            </a:pPr>
            <a:r>
              <a:t>✓ Implementation - Every milestone is a potential story; Comms transforms "what happened" into "why it matters"</a:t>
            </a:r>
          </a:p>
          <a:p>
            <a:pPr>
              <a:spcBef>
                <a:spcPts val="400"/>
              </a:spcBef>
              <a:defRPr sz="1400"/>
            </a:pPr>
            <a:r>
              <a:t>✓ SEP - Stakeholder relationships become success narratives; engagement wins feed outreach content</a:t>
            </a:r>
          </a:p>
          <a:p>
            <a:pPr>
              <a:spcBef>
                <a:spcPts val="400"/>
              </a:spcBef>
              <a:defRPr sz="1400"/>
            </a:pPr>
            <a:r>
              <a:t>✓ Team - Internal updates surface external story opportunities; meeting notes become talking points</a:t>
            </a:r>
          </a:p>
          <a:p>
            <a:pPr>
              <a:spcBef>
                <a:spcPts val="400"/>
              </a:spcBef>
              <a:defRPr sz="1400"/>
            </a:pPr>
            <a:r>
              <a:t>✓ Reports - Comms metrics demonstrate impact; story tracking shows portfolio-wide communication health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Answering Comms Questions with MO Viewer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71600"/>
            <a:ext cx="731520" cy="731520"/>
          </a:xfrm>
          <a:prstGeom prst="ellipse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37160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5C"/>
                </a:solidFill>
              </a:defRPr>
            </a:pPr>
            <a:r>
              <a:t>What Stories?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What success stories and milestones do we have to share?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2926080"/>
            <a:ext cx="731520" cy="731520"/>
          </a:xfrm>
          <a:prstGeom prst="ellipse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260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5C"/>
                </a:solidFill>
              </a:defRPr>
            </a:pPr>
            <a:r>
              <a:t>Who to Reach?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3832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What events are coming up and who should we target?</a:t>
            </a:r>
          </a:p>
        </p:txBody>
      </p:sp>
      <p:sp>
        <p:nvSpPr>
          <p:cNvPr id="12" name="Oval 11"/>
          <p:cNvSpPr/>
          <p:nvPr/>
        </p:nvSpPr>
        <p:spPr>
          <a:xfrm>
            <a:off x="457200" y="4480560"/>
            <a:ext cx="731520" cy="731520"/>
          </a:xfrm>
          <a:prstGeom prst="ellipse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572000"/>
            <a:ext cx="731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448056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A235C"/>
                </a:solidFill>
              </a:defRPr>
            </a:pPr>
            <a:r>
              <a:t>What's Ready?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937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What content and blurbs do we have prepared?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88720"/>
            <a:ext cx="5486400" cy="50292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34747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999999"/>
                </a:solidFill>
              </a:defRPr>
            </a:pPr>
            <a:r>
              <a:t>[Screenshot]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Q1: What Stories Do We Have to Share?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53035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Stories Database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188720"/>
            <a:ext cx="5303520" cy="22860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32588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Solution Links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Track story status (Draft, Ready, Published)</a:t>
            </a:r>
          </a:p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Link stories to solutions and milestones</a:t>
            </a:r>
          </a:p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Tag by theme and audience</a:t>
            </a:r>
          </a:p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Track publication channels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Stories connected to Implementation data</a:t>
            </a:r>
          </a:p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Milestone achievements trigger story ideas</a:t>
            </a:r>
          </a:p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Stakeholder quotes from SEP engagements</a:t>
            </a:r>
          </a:p>
          <a:p>
            <a:pPr>
              <a:spcBef>
                <a:spcPts val="800"/>
              </a:spcBef>
              <a:defRPr sz="1600" b="0">
                <a:solidFill>
                  <a:srgbClr val="000000"/>
                </a:solidFill>
              </a:defRPr>
            </a:pPr>
            <a:r>
              <a:t>• Success metrics from solution updates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657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5C"/>
                </a:solidFill>
              </a:defRPr>
            </a:pPr>
            <a:r>
              <a:t>Story Types Tracked in MO Viewer: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411480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800"/>
            </a:pPr>
            <a:r>
              <a:t>• Milestone Stories → ATP completions, F2I transitions, ORR achievements</a:t>
            </a:r>
          </a:p>
          <a:p>
            <a:pPr>
              <a:spcBef>
                <a:spcPts val="400"/>
              </a:spcBef>
              <a:defRPr sz="1800"/>
            </a:pPr>
            <a:r>
              <a:t>• Stakeholder Spotlights → Agency success stories, user testimonials</a:t>
            </a:r>
          </a:p>
          <a:p>
            <a:pPr>
              <a:spcBef>
                <a:spcPts val="400"/>
              </a:spcBef>
              <a:defRPr sz="1800"/>
            </a:pPr>
            <a:r>
              <a:t>• Technical Highlights → Data product features, capability announcements</a:t>
            </a:r>
          </a:p>
          <a:p>
            <a:pPr>
              <a:spcBef>
                <a:spcPts val="400"/>
              </a:spcBef>
              <a:defRPr sz="1800"/>
            </a:pPr>
            <a:r>
              <a:t>• Event Recaps → Conference presentations, workshop outcomes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Story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0292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50292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5029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235C"/>
                </a:solidFill>
              </a:defRPr>
            </a:pPr>
            <a: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7607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Comms Dashboard → Stories → Filter by Status → View Story Details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Q2: What Events and Who Should We Target?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749039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Events &amp; Outreach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749039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Guest Lists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188720"/>
            <a:ext cx="3749039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7C00"/>
                </a:solidFill>
              </a:defRPr>
            </a:pPr>
            <a:r>
              <a:t>Prep Reports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Conference tracking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Webinar scheduling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Workshop planning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Outreach campaigns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Attendee management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Agency representation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Contact information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Engagement 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Auto-generate prep docs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Conversation starters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Agency backgrounds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Export to Google Docs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5C"/>
                </a:solidFill>
              </a:defRPr>
            </a:pPr>
            <a:r>
              <a:t>How MO Viewer Supports Outreach: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800"/>
            </a:pPr>
            <a:r>
              <a:t>✓ Events linked to stakeholder database for automatic guest list generation</a:t>
            </a:r>
          </a:p>
          <a:p>
            <a:pPr>
              <a:spcBef>
                <a:spcPts val="400"/>
              </a:spcBef>
              <a:defRPr sz="1800"/>
            </a:pPr>
            <a:r>
              <a:t>✓ Prep reports pull contact details, agency info, and conversation starters</a:t>
            </a:r>
          </a:p>
          <a:p>
            <a:pPr>
              <a:spcBef>
                <a:spcPts val="400"/>
              </a:spcBef>
              <a:defRPr sz="1800"/>
            </a:pPr>
            <a:r>
              <a:t>✓ One-click export to Google Docs for meeting preparation</a:t>
            </a:r>
          </a:p>
          <a:p>
            <a:pPr>
              <a:spcBef>
                <a:spcPts val="400"/>
              </a:spcBef>
              <a:defRPr sz="1800"/>
            </a:pPr>
            <a:r>
              <a:t>✓ Track outreach outcomes and follow-up 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Event &amp; Outreach Management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188720"/>
            <a:ext cx="91440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0" y="5029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235C"/>
                </a:solidFill>
              </a:defRPr>
            </a:pPr>
            <a:r>
              <a:t>LIVE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Comms Dashboard → Events → ESRI FedGIS → Guest List → Prep Report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Q3: What Content Do We Have Prepared?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188720"/>
            <a:ext cx="3749039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E7D32"/>
                </a:solidFill>
              </a:defRPr>
            </a:pPr>
            <a:r>
              <a:t>Highlighter Blurbs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188720"/>
            <a:ext cx="3749039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976D2"/>
                </a:solidFill>
              </a:defRPr>
            </a:pPr>
            <a:r>
              <a:t>Talking 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188720"/>
            <a:ext cx="3749039" cy="21031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1325880"/>
            <a:ext cx="33832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57C00"/>
                </a:solidFill>
              </a:defRPr>
            </a:pPr>
            <a:r>
              <a:t>Quick 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NSITE Highlighter blurbs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ODSI blurbs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Solution summaries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Ready-to-use content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Key messages by solution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Milestone achievements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Stakeholder quotes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Impact statistics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737360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Quick access to agendas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Embedded document view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Real-time updates</a:t>
            </a:r>
          </a:p>
          <a:p>
            <a:pPr>
              <a:spcBef>
                <a:spcPts val="800"/>
              </a:spcBef>
              <a:defRPr sz="1400" b="0">
                <a:solidFill>
                  <a:srgbClr val="000000"/>
                </a:solidFill>
              </a:defRPr>
            </a:pPr>
            <a:r>
              <a:t>• One-click navigation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4747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A235C"/>
                </a:solidFill>
              </a:defRPr>
            </a:pPr>
            <a:r>
              <a:t>Content Management in MO Viewer: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393192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400"/>
              </a:spcBef>
              <a:defRPr sz="1800"/>
            </a:pPr>
            <a:r>
              <a:t>→ Blurb documents embedded for quick reference</a:t>
            </a:r>
          </a:p>
          <a:p>
            <a:pPr>
              <a:spcBef>
                <a:spcPts val="400"/>
              </a:spcBef>
              <a:defRPr sz="1800"/>
            </a:pPr>
            <a:r>
              <a:t>→ Solution talking points linked to latest milestones</a:t>
            </a:r>
          </a:p>
          <a:p>
            <a:pPr>
              <a:spcBef>
                <a:spcPts val="400"/>
              </a:spcBef>
              <a:defRPr sz="1800"/>
            </a:pPr>
            <a:r>
              <a:t>→ Quick Update page provides single-click access to all agendas</a:t>
            </a:r>
          </a:p>
          <a:p>
            <a:pPr>
              <a:spcBef>
                <a:spcPts val="400"/>
              </a:spcBef>
              <a:defRPr sz="1800"/>
            </a:pPr>
            <a:r>
              <a:t>→ Content status tracked: Draft → Review → Ready → Published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Demo: Content &amp; Blurbs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0292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943600" y="1188720"/>
            <a:ext cx="5029200" cy="36576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0" y="5029200"/>
            <a:ext cx="4572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1A235C"/>
                </a:solidFill>
              </a:defRPr>
            </a:pPr>
            <a:r>
              <a:t>LIVE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7607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/>
            </a:pPr>
            <a:r>
              <a:t>Quick Update → NSITE Blurbs tab / Reports → Solution Talking Points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MO Viewer: Answering Comms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3749039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2E7D32"/>
                </a:solidFill>
              </a:defRPr>
            </a:pPr>
            <a:r>
              <a:t>Q1: What Stories?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Stories Database &amp;</a:t>
            </a:r>
            <a:br/>
            <a:r>
              <a:t>Solution Links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666666"/>
                </a:solidFill>
              </a:defRPr>
            </a:pPr>
            <a:r>
              <a:t>find and track success</a:t>
            </a:r>
            <a:br/>
            <a:r>
              <a:t>stories to share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371600"/>
            <a:ext cx="3749039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5544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976D2"/>
                </a:solidFill>
              </a:defRPr>
            </a:pPr>
            <a:r>
              <a:t>Q2: Who to Reach?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286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Events, Guest Lists</a:t>
            </a:r>
            <a:br/>
            <a:r>
              <a:t>&amp; Prep Reports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657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666666"/>
                </a:solidFill>
              </a:defRPr>
            </a:pPr>
            <a:r>
              <a:t>plan outreach and</a:t>
            </a:r>
            <a:br/>
            <a:r>
              <a:t>prepare for events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371600"/>
            <a:ext cx="3749039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F57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554480"/>
            <a:ext cx="3383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F57C00"/>
                </a:solidFill>
              </a:defRPr>
            </a:pPr>
            <a:r>
              <a:t>Q3: What's Ready?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86000"/>
            <a:ext cx="3383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/>
            </a:pPr>
            <a:r>
              <a:t>Blurbs, Talking Points</a:t>
            </a:r>
            <a:br/>
            <a:r>
              <a:t>&amp; Quick 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657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i="1">
                <a:solidFill>
                  <a:srgbClr val="666666"/>
                </a:solidFill>
              </a:defRPr>
            </a:pPr>
            <a:r>
              <a:t>access prepared content</a:t>
            </a:r>
            <a:br/>
            <a:r>
              <a:t>instantly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48640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A235C"/>
                </a:solidFill>
              </a:defRPr>
            </a:pPr>
            <a:r>
              <a:t>One platform for complete communications visibility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3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