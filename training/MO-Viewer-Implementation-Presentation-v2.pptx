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MO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Information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Implementation-View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Problem: lots of data, not a lot of ways to quickly access the information it informs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MO-wide: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over 9000 interconnected files stored in Google Drive, acting as a "database"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Jenny, Cherrelle, Slack, emails, Teams, and various meetings acting as database interfaces</a:t>
            </a:r>
          </a:p>
          <a:p>
            <a:pPr>
              <a:spcBef>
                <a:spcPts val="800"/>
              </a:spcBef>
              <a:defRPr sz="2000" b="0">
                <a:solidFill>
                  <a:srgbClr val="000000"/>
                </a:solidFill>
              </a:defRPr>
            </a:pPr>
            <a:r>
              <a:t>multiple copies of various files used to create actionable information conveyed in meetings</a:t>
            </a: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Implementation-specific: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48 solutions across 5 assessment cycles (2016-2024)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33 data fields tracked per solution (lifecycle phase, milestones, documents, contracts)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4 major milestones per solution (ATP, F2I, ORR, Closeout) with 9 document deliverables each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~4,200+ stakeholder contacts linked to solutions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Historical updates scattered across 4+ years of meeting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Early Solution attempts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4114800"/>
          </a:xfrm>
          <a:prstGeom prst="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2004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99999"/>
                </a:solidFill>
              </a:defRPr>
            </a:pPr>
            <a:r>
              <a:t>[Screenshot]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35C"/>
                </a:solidFill>
              </a:defRPr>
            </a:pPr>
            <a:r>
              <a:t>2022-2023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371600"/>
            <a:ext cx="3474720" cy="4114800"/>
          </a:xfrm>
          <a:prstGeom prst="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2004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99999"/>
                </a:solidFill>
              </a:defRPr>
            </a:pPr>
            <a:r>
              <a:t>[Screenshot]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6692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35C"/>
                </a:solidFill>
              </a:defRPr>
            </a:pPr>
            <a:r>
              <a:t>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371600"/>
            <a:ext cx="3474720" cy="4114800"/>
          </a:xfrm>
          <a:prstGeom prst="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32004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99999"/>
                </a:solidFill>
              </a:defRPr>
            </a:pPr>
            <a:r>
              <a:t>[Screenshot]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6692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35C"/>
                </a:solidFill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Early Solution attempts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235C"/>
                </a:solidFill>
              </a:defRPr>
            </a:pPr>
            <a:r>
              <a:t>2022-2023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097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235C"/>
                </a:solidFill>
              </a:defRPr>
            </a:pPr>
            <a:r>
              <a:t>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235C"/>
                </a:solidFill>
              </a:defRPr>
            </a:pPr>
            <a:r>
              <a:t>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097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235C"/>
                </a:solidFill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files stored in GWorkspace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45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files stored in GWorkspace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files stored in GWorkspace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645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files stored in GWorkspace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688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data manually entered, tracked, transformed, and analyzed;</a:t>
            </a:r>
            <a:br/>
            <a:r>
              <a:t>files viewed through Google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4688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data manually entered, automatically transformed across files with ~40 Google AppsScripts;</a:t>
            </a:r>
            <a:br/>
            <a:r>
              <a:t>files viewed through direct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data pulled from GWorkspace file, applied to custom Github templates, Google AppScript accesses Github and displays the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4688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data pulled from Source of Truth files into Databases.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0624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view-only;</a:t>
            </a:r>
            <a:br/>
            <a:r>
              <a:t>links to source files</a:t>
            </a:r>
            <a:br/>
            <a:r>
              <a:t>no edit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20624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linking network of source files;</a:t>
            </a:r>
            <a:br/>
            <a:r>
              <a:t>full edit access (working directly in all files)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0624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view-only, linking of source files;</a:t>
            </a:r>
            <a:br/>
            <a:r>
              <a:t>additional interface layer between source data and information transformation;</a:t>
            </a:r>
            <a:br/>
            <a:r>
              <a:t>heavy maintenance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20624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direct interaction with maintained data to transform into information as needed,</a:t>
            </a:r>
            <a:br/>
            <a:r>
              <a:t>without risk to Source of Truth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Meta-Analysis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 b="0">
                <a:solidFill>
                  <a:srgbClr val="000000"/>
                </a:solidFill>
              </a:defRPr>
            </a:pPr>
            <a:r>
              <a:t>Conducted analysis of the Implementation tracking process as a proposed Solution to address documented Needs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Evaluated how solution data flows across all MO activities from multiple perspectives</a:t>
            </a:r>
          </a:p>
          <a:p>
            <a:pPr>
              <a:spcBef>
                <a:spcPts val="800"/>
              </a:spcBef>
              <a:defRPr sz="2200" b="0">
                <a:solidFill>
                  <a:srgbClr val="000000"/>
                </a:solidFill>
              </a:defRPr>
            </a:pPr>
            <a:r>
              <a:t>Identified design concerns with existing tracking methods: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Solution data scattered across individual Drive folders, QuickLook sheets, and meeting notes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No single view of "where is this solution right now?"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Milestone and document status requires opening multiple files to piece together</a:t>
            </a:r>
          </a:p>
          <a:p>
            <a:pPr>
              <a:spcBef>
                <a:spcPts val="800"/>
              </a:spcBef>
              <a:defRPr sz="2200" b="0">
                <a:solidFill>
                  <a:srgbClr val="000000"/>
                </a:solidFill>
              </a:defRPr>
            </a:pPr>
            <a:r>
              <a:t>Discovered: ability to consolidate solution metadata into structured database while maintaining links to source files. This change means much more interconnectivity of data with much less code.</a:t>
            </a:r>
          </a:p>
          <a:p>
            <a:pPr>
              <a:spcBef>
                <a:spcPts val="1600"/>
              </a:spcBef>
              <a:defRPr sz="2000" b="1">
                <a:solidFill>
                  <a:srgbClr val="1A235C"/>
                </a:solidFill>
              </a:defRPr>
            </a:pPr>
            <a:r>
              <a:t>Single source of truth for solution status with full audit trail back to original documents.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How we work, in terms of an Information 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99999"/>
                </a:solidFill>
              </a:defRPr>
            </a:pPr>
            <a:r>
              <a:t>[Whiteboard Diagram]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Context: Why MO Viewer and not just Implementation Tracker?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749039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SEP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SEP milestones map directly to Implementation lifecycle phases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Stakeholder engagement aligns with solution readiness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Working sessions prepare stakeholders for transitions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749039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Comms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Solution updates become Comms stories and talking points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Milestone achievements are outreach opportunities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Success stories amplify Implementation wins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749039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7C00"/>
                </a:solidFill>
              </a:defRPr>
            </a:pPr>
            <a:r>
              <a:t>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Actions from Implementation meetings need tracking and assignment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Meeting notes feed solution update database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Availability affects milestone scheduling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5C"/>
                </a:solidFill>
              </a:defRPr>
            </a:pPr>
            <a:r>
              <a:t>Implementation is the foundation: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148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400"/>
            </a:pPr>
            <a:r>
              <a:t>✓ SEP - SEP wraps around the Solution Lifecycle framework; solution data had to be built first because SEP engagement maps directly to solution phases and milestones</a:t>
            </a:r>
          </a:p>
          <a:p>
            <a:pPr>
              <a:spcBef>
                <a:spcPts val="400"/>
              </a:spcBef>
              <a:defRPr sz="1400"/>
            </a:pPr>
            <a:r>
              <a:t>✓ Comms - Every solution milestone is a potential story; Implementation provides the "what happened" that Comms amplifies</a:t>
            </a:r>
          </a:p>
          <a:p>
            <a:pPr>
              <a:spcBef>
                <a:spcPts val="400"/>
              </a:spcBef>
              <a:defRPr sz="1400"/>
            </a:pPr>
            <a:r>
              <a:t>✓ Team - Internal planning meetings generate updates and actions that feed back into Implementation tracking</a:t>
            </a:r>
          </a:p>
          <a:p>
            <a:pPr>
              <a:spcBef>
                <a:spcPts val="400"/>
              </a:spcBef>
              <a:defRPr sz="1400"/>
            </a:pPr>
            <a:r>
              <a:t>✓ Reports - Quad charts, milestone reports, and historical updates all pull from Implementation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Answering Implementation's Questions with MO Viewer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731520" cy="731520"/>
          </a:xfrm>
          <a:prstGeom prst="ellipse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5C"/>
                </a:solidFill>
              </a:defRPr>
            </a:pPr>
            <a:r>
              <a:t>Where Are We?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What phase is this solution in and what milestones are coming up?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926080"/>
            <a:ext cx="731520" cy="731520"/>
          </a:xfrm>
          <a:prstGeom prst="ellipse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26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5C"/>
                </a:solidFill>
              </a:defRPr>
            </a:pPr>
            <a:r>
              <a:t>What's the Status?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83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Are documents complete? What deliverables are pending?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480560"/>
            <a:ext cx="731520" cy="731520"/>
          </a:xfrm>
          <a:prstGeom prst="ellipse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5C"/>
                </a:solidFill>
              </a:defRPr>
            </a:pPr>
            <a:r>
              <a:t>What's Happening?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937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What are the recent updates and who are the stakeholders?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88720"/>
            <a:ext cx="54864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74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99999"/>
                </a:solidFill>
              </a:defRPr>
            </a:pPr>
            <a:r>
              <a:t>[Screenshot]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Q1: Where Are We in the Lifecycle?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3035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Solution Picker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Milestone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Filter by cycle (1-5)</a:t>
            </a:r>
          </a:p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Filter by lifecycle phase</a:t>
            </a:r>
          </a:p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Filter by group (HLS, OPERA, etc.)</a:t>
            </a:r>
          </a:p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Search across all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Visual progress indicators</a:t>
            </a:r>
          </a:p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ATP, F2I, ORR, Closeout tracking</a:t>
            </a:r>
          </a:p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Color-coded completion status</a:t>
            </a:r>
          </a:p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Date-based milestone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5C"/>
                </a:solidFill>
              </a:defRPr>
            </a:pPr>
            <a:r>
              <a:t>Lifecycle Phases Tracked in MO Viewer: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800"/>
            </a:pPr>
            <a:r>
              <a:t>• Formulation → Initial planning and requirements gathering</a:t>
            </a:r>
          </a:p>
          <a:p>
            <a:pPr>
              <a:spcBef>
                <a:spcPts val="400"/>
              </a:spcBef>
              <a:defRPr sz="1800"/>
            </a:pPr>
            <a:r>
              <a:t>• Implementation → Active development and integration</a:t>
            </a:r>
          </a:p>
          <a:p>
            <a:pPr>
              <a:spcBef>
                <a:spcPts val="400"/>
              </a:spcBef>
              <a:defRPr sz="1800"/>
            </a:pPr>
            <a:r>
              <a:t>• Operations → Production use and maintenance</a:t>
            </a:r>
          </a:p>
          <a:p>
            <a:pPr>
              <a:spcBef>
                <a:spcPts val="400"/>
              </a:spcBef>
              <a:defRPr sz="1800"/>
            </a:pPr>
            <a:r>
              <a:t>• Closeout → Transition and archival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Solution Lifecycle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0292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188720"/>
            <a:ext cx="50292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5029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235C"/>
                </a:solidFill>
              </a:defRPr>
            </a:pPr>
            <a: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760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Implementation Dashboard → Select "Active Solutions" → MWOW → Details Card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Q2: What's the Document &amp; Deliverable Status?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749039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Document Links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749039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Document Status Grid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188720"/>
            <a:ext cx="3749039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7C00"/>
                </a:solidFill>
              </a:defRPr>
            </a:pPr>
            <a:r>
              <a:t>Milestone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Drive Folder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Earthdata Page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Project Plan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Science SOW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Risk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Project Plan status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Science SOW status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IRA/TTA status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ICD status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All 9 deliverables tracked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ATP Memo &amp; Presentation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F2I Memo &amp; Presentation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ORR Memo &amp; Presentation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Closeout Memo &amp; Presentation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One-click access to all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5C"/>
                </a:solidFill>
              </a:defRPr>
            </a:pPr>
            <a:r>
              <a:t>How MO Viewer Tracks Document Status: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800"/>
            </a:pPr>
            <a:r>
              <a:t>✓ 9 key documents tracked per solution with completion status</a:t>
            </a:r>
          </a:p>
          <a:p>
            <a:pPr>
              <a:spcBef>
                <a:spcPts val="400"/>
              </a:spcBef>
              <a:defRPr sz="1800"/>
            </a:pPr>
            <a:r>
              <a:t>✓ Direct links to source documents in Drive</a:t>
            </a:r>
          </a:p>
          <a:p>
            <a:pPr>
              <a:spcBef>
                <a:spcPts val="400"/>
              </a:spcBef>
              <a:defRPr sz="1800"/>
            </a:pPr>
            <a:r>
              <a:t>✓ Visual indicators: Complete (green), In Progress (yellow), Not Started (gray)</a:t>
            </a:r>
          </a:p>
          <a:p>
            <a:pPr>
              <a:spcBef>
                <a:spcPts val="400"/>
              </a:spcBef>
              <a:defRPr sz="1800"/>
            </a:pPr>
            <a:r>
              <a:t>✓ Quick access to Earthdata page and external resources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Document Status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91440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5029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235C"/>
                </a:solidFill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Implementation Dashboard → HLS → Details Card → Document Status section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Q3: What's Happening with This Solution?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749039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Recent Updates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749039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Stakeholder 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188720"/>
            <a:ext cx="3749039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7C00"/>
                </a:solidFill>
              </a:defRPr>
            </a:pPr>
            <a:r>
              <a:t>Team &amp; Contacts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Updates from meeting notes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Chronological timeline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Source document links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Last 30/60/90 day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Total contacts count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Survey submitters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Primary/Secondary SMEs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Agency affiliations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Team lead assignment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IRA representative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Agency breakdown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Email all stakeholders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5C"/>
                </a:solidFill>
              </a:defRPr>
            </a:pPr>
            <a:r>
              <a:t>Update Tracking in MO Viewer: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800"/>
            </a:pPr>
            <a:r>
              <a:t>→ Updates automatically extracted from Internal Planning and SEP meeting notes</a:t>
            </a:r>
          </a:p>
          <a:p>
            <a:pPr>
              <a:spcBef>
                <a:spcPts val="400"/>
              </a:spcBef>
              <a:defRPr sz="1800"/>
            </a:pPr>
            <a:r>
              <a:t>→ Linked to source documents for full context</a:t>
            </a:r>
          </a:p>
          <a:p>
            <a:pPr>
              <a:spcBef>
                <a:spcPts val="400"/>
              </a:spcBef>
              <a:defRPr sz="1800"/>
            </a:pPr>
            <a:r>
              <a:t>→ Filterable by date range and solution</a:t>
            </a:r>
          </a:p>
          <a:p>
            <a:pPr>
              <a:spcBef>
                <a:spcPts val="400"/>
              </a:spcBef>
              <a:defRPr sz="1800"/>
            </a:pPr>
            <a:r>
              <a:t>→ Exportable for reports and presentations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Updates and Stakeholder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0292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188720"/>
            <a:ext cx="50292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5029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235C"/>
                </a:solidFill>
              </a:defRPr>
            </a:pPr>
            <a: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Implementation Dashboard → GABAN → Details Card → Recent Updates / Stakeholders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 Viewer: Answering Implementation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749039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Q1: Where Are We?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t>Solution Picker &amp;</a:t>
            </a:r>
            <a:br/>
            <a:r>
              <a:t>Milestone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666666"/>
                </a:solidFill>
              </a:defRPr>
            </a:pPr>
            <a:r>
              <a:t>track lifecycle phase and</a:t>
            </a:r>
            <a:br/>
            <a:r>
              <a:t>upcoming milestones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749039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976D2"/>
                </a:solidFill>
              </a:defRPr>
            </a:pPr>
            <a:r>
              <a:t>Q2: What's the Status?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t>Document Status Grid</a:t>
            </a:r>
            <a:br/>
            <a:r>
              <a:t>&amp; 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657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666666"/>
                </a:solidFill>
              </a:defRPr>
            </a:pPr>
            <a:r>
              <a:t>see deliverable completion</a:t>
            </a:r>
            <a:br/>
            <a:r>
              <a:t>at a glance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749039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544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7C00"/>
                </a:solidFill>
              </a:defRPr>
            </a:pPr>
            <a:r>
              <a:t>Q3: What's Happening?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t>Recent Updates &amp;</a:t>
            </a:r>
            <a:br/>
            <a:r>
              <a:t>Stakeholders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657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666666"/>
                </a:solidFill>
              </a:defRPr>
            </a:pPr>
            <a:r>
              <a:t>stay current on activities</a:t>
            </a:r>
            <a:br/>
            <a:r>
              <a:t>and contacts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235C"/>
                </a:solidFill>
              </a:defRPr>
            </a:pPr>
            <a:r>
              <a:t>One platform for complete solution portfolio visibility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